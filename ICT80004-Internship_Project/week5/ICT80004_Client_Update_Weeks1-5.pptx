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1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3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8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3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7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3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4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8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97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5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81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26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30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09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5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8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31044"/>
            <a:ext cx="7772400" cy="1470025"/>
          </a:xfrm>
        </p:spPr>
        <p:txBody>
          <a:bodyPr/>
          <a:lstStyle/>
          <a:p>
            <a:r>
              <a:rPr dirty="0"/>
              <a:t>ICT80004 Internship Project – Client Update (Weeks 1–</a:t>
            </a:r>
            <a:r>
              <a:rPr lang="en-IN" dirty="0"/>
              <a:t>5</a:t>
            </a:r>
            <a:r>
              <a:rPr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16857"/>
            <a:ext cx="6400800" cy="1752600"/>
          </a:xfrm>
        </p:spPr>
        <p:txBody>
          <a:bodyPr>
            <a:normAutofit/>
          </a:bodyPr>
          <a:lstStyle/>
          <a:p>
            <a:r>
              <a:rPr dirty="0"/>
              <a:t>Benchmarking &amp; Securing LLMs Against Prompt Injection Attacks</a:t>
            </a:r>
          </a:p>
          <a:p>
            <a:r>
              <a:rPr dirty="0"/>
              <a:t> Arun Ragavendhar </a:t>
            </a:r>
            <a:r>
              <a:rPr lang="en-IN" dirty="0"/>
              <a:t>Arunachalam Palaniyappan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LLMs can be tricked by malicious prompts (prompt injection).</a:t>
            </a:r>
          </a:p>
          <a:p>
            <a:pPr>
              <a:defRPr sz="2000"/>
            </a:pPr>
            <a:r>
              <a:t>Problem: These attacks override intended instructions → risky outputs.</a:t>
            </a:r>
          </a:p>
          <a:p>
            <a:pPr>
              <a:defRPr sz="2000"/>
            </a:pPr>
            <a:r>
              <a:t>Goal: Create systematic test suite + defenses to secure CSIRO platform.</a:t>
            </a:r>
          </a:p>
          <a:p>
            <a:pPr>
              <a:defRPr sz="2000"/>
            </a:pPr>
            <a:r>
              <a:t>Importance: OWASP lists Prompt Injection as top security risk for LLMs.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438" y="2007080"/>
            <a:ext cx="8229600" cy="26396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AU" dirty="0"/>
          </a:p>
          <a:p>
            <a:pPr>
              <a:defRPr sz="2000"/>
            </a:pPr>
            <a:r>
              <a:rPr dirty="0"/>
              <a:t>Short Agile sprints (2 weeks) with loop: Discover → Design → Defend → Document.</a:t>
            </a:r>
          </a:p>
          <a:p>
            <a:pPr>
              <a:defRPr sz="2000"/>
            </a:pPr>
            <a:r>
              <a:rPr dirty="0"/>
              <a:t>Focus tasks: Summarisation and Question Answering (QA).</a:t>
            </a:r>
          </a:p>
          <a:p>
            <a:pPr>
              <a:defRPr sz="2000"/>
            </a:pPr>
            <a:r>
              <a:rPr dirty="0"/>
              <a:t>Placement testing: attacks inserted at start, middle, end of content.</a:t>
            </a:r>
          </a:p>
          <a:p>
            <a:pPr>
              <a:defRPr sz="2000"/>
            </a:pPr>
            <a:r>
              <a:rPr dirty="0"/>
              <a:t>Defenses tested: boundary awareness, reminders, light guards, fine-tuning (if essential).</a:t>
            </a:r>
          </a:p>
        </p:txBody>
      </p:sp>
      <p:pic>
        <p:nvPicPr>
          <p:cNvPr id="4" name="Picture 3" descr="diagram_agil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306" y="4483193"/>
            <a:ext cx="2219864" cy="2306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Read two papers: SStuBs (LLM bugs) and Chain-of-Thought prompting.</a:t>
            </a:r>
          </a:p>
          <a:p>
            <a:pPr>
              <a:defRPr sz="2000"/>
            </a:pPr>
            <a:r>
              <a:rPr dirty="0"/>
              <a:t>Prepared PPT highlighting vulnerabilities &amp; initial defenses.</a:t>
            </a:r>
          </a:p>
          <a:p>
            <a:pPr>
              <a:defRPr sz="2000"/>
            </a:pPr>
            <a:r>
              <a:rPr dirty="0"/>
              <a:t>Client/team discussion set direction towards prompt injection focus.</a:t>
            </a:r>
          </a:p>
          <a:p>
            <a:pPr>
              <a:defRPr sz="2000"/>
            </a:pPr>
            <a:r>
              <a:rPr dirty="0"/>
              <a:t>Received 5 new papers covering indirect attacks, structured queries, systematic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2000"/>
            </a:pPr>
            <a:r>
              <a:t>Completed BIPIA study: defined attack types (task-irrelevant, task-relevant, targeted).</a:t>
            </a:r>
          </a:p>
          <a:p>
            <a:pPr>
              <a:defRPr sz="2000"/>
            </a:pPr>
            <a:r>
              <a:t>Found injection placement critical (end most dangerous).</a:t>
            </a:r>
          </a:p>
          <a:p>
            <a:pPr>
              <a:defRPr sz="2000"/>
            </a:pPr>
            <a:r>
              <a:t>Analysed HOUYI framework: context inference + 3-part payload (framework, separator, disruptor).</a:t>
            </a:r>
          </a:p>
          <a:p>
            <a:pPr>
              <a:defRPr sz="2000"/>
            </a:pPr>
            <a:r>
              <a:t>Reviewed Security Perspective: input/output filters + probes → continuous monitoring.</a:t>
            </a:r>
          </a:p>
          <a:p>
            <a:pPr>
              <a:defRPr sz="2000"/>
            </a:pPr>
            <a:r>
              <a:t>Studied StruQ defense: separates control vs. data channels using structured queries.</a:t>
            </a:r>
          </a:p>
          <a:p>
            <a:pPr>
              <a:defRPr sz="2000"/>
            </a:pPr>
            <a:r>
              <a:t>Started Systematic Analysis: linked architectures to vulnerability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Finished Systematic Analysis paper → model-specific weaknesses &amp; defenses.</a:t>
            </a:r>
          </a:p>
          <a:p>
            <a:pPr>
              <a:defRPr sz="2000"/>
            </a:pPr>
            <a:r>
              <a:rPr dirty="0"/>
              <a:t>Mapped findings to design of our test suite.</a:t>
            </a:r>
          </a:p>
          <a:p>
            <a:pPr>
              <a:defRPr sz="2000"/>
            </a:pPr>
            <a:r>
              <a:rPr dirty="0"/>
              <a:t>Started practical tests: injected vulnerable code snippets into GPT, Grok, Llama, etc.</a:t>
            </a:r>
          </a:p>
          <a:p>
            <a:pPr>
              <a:defRPr sz="2000"/>
            </a:pPr>
            <a:r>
              <a:rPr dirty="0"/>
              <a:t>Began comparative table of results; documented full methodology for reproducibility.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Completed comparative testing across GPT-4/5, Grok, Gemini, Llama-3, DeepSeek.</a:t>
            </a:r>
          </a:p>
          <a:p>
            <a:pPr>
              <a:defRPr sz="2000"/>
            </a:pPr>
            <a:r>
              <a:rPr dirty="0"/>
              <a:t>Vulnerabilities tested: integer overflow, null pointer, array out-of-bounds, divide by zero, SQL injection.</a:t>
            </a:r>
          </a:p>
          <a:p>
            <a:pPr>
              <a:defRPr sz="2000"/>
            </a:pPr>
            <a:r>
              <a:rPr dirty="0"/>
              <a:t>Recorded differences in how models fix/respond to vulnerabilities.</a:t>
            </a:r>
          </a:p>
          <a:p>
            <a:pPr>
              <a:defRPr sz="2000"/>
            </a:pPr>
            <a:r>
              <a:rPr dirty="0"/>
              <a:t>Compared prompting strategies: CoT, Action, Debate, Encouragement → Debate/Encouragement safer.</a:t>
            </a:r>
          </a:p>
          <a:p>
            <a:pPr>
              <a:defRPr sz="2000"/>
            </a:pPr>
            <a:r>
              <a:rPr dirty="0"/>
              <a:t>Drafted taxonomy of attack categories vs. failure modes, linking to prompt injection risks.</a:t>
            </a:r>
          </a:p>
          <a:p>
            <a:pPr>
              <a:defRPr sz="2000"/>
            </a:pPr>
            <a:r>
              <a:rPr dirty="0"/>
              <a:t>Produced consolidated Vulnerable Code Testing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LLMs behave differently depending on model and prompting style.</a:t>
            </a:r>
          </a:p>
          <a:p>
            <a:pPr>
              <a:defRPr sz="2000"/>
            </a:pPr>
            <a:r>
              <a:t>BIPIA finding confirmed: stronger models can be more vulnerable.</a:t>
            </a:r>
          </a:p>
          <a:p>
            <a:pPr>
              <a:defRPr sz="2000"/>
            </a:pPr>
            <a:r>
              <a:t>StruQ defense promising but optimisation-based attacks still effective (TAP, GCG).</a:t>
            </a:r>
          </a:p>
          <a:p>
            <a:pPr>
              <a:defRPr sz="2000"/>
            </a:pPr>
            <a:r>
              <a:t>Debate and encouragement prompting often yielded more reliable and safer responses.</a:t>
            </a:r>
          </a:p>
          <a:p>
            <a:pPr>
              <a:defRPr sz="2000"/>
            </a:pPr>
            <a:r>
              <a:t>Taxonomy helps classify attacks, linking coding flaws to prompt injection behaviours.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Systematization of Social Engineering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42" y="2410844"/>
            <a:ext cx="4748539" cy="4208491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pPr>
              <a:defRPr sz="2000"/>
            </a:pPr>
            <a:r>
              <a:rPr dirty="0"/>
              <a:t>Analysed 9 key tactics: baiting, pretexting, impersonation, reciprocity, authority, social proof, urgency, story/empathy, reverse SE.</a:t>
            </a:r>
          </a:p>
          <a:p>
            <a:pPr>
              <a:defRPr sz="2000"/>
            </a:pPr>
            <a:r>
              <a:rPr dirty="0"/>
              <a:t>Mapped how these tactics translate into prompt injection styles (e.g., urgency → force model to rush outputs).</a:t>
            </a:r>
          </a:p>
          <a:p>
            <a:pPr>
              <a:defRPr sz="2000"/>
            </a:pPr>
            <a:r>
              <a:rPr dirty="0"/>
              <a:t>Learned: placement matters (start/mid/end) and framing strongly alters outcomes.</a:t>
            </a:r>
          </a:p>
          <a:p>
            <a:pPr>
              <a:defRPr sz="2000"/>
            </a:pPr>
            <a:r>
              <a:rPr dirty="0"/>
              <a:t>Inference: taxonomy of tactics provides structured way to design, test, and defend against social-engineering style attacks in LLMs.</a:t>
            </a:r>
          </a:p>
          <a:p>
            <a:pPr>
              <a:defRPr sz="2000"/>
            </a:pPr>
            <a:r>
              <a:rPr dirty="0"/>
              <a:t>Next: expand cases per tactic, align with </a:t>
            </a:r>
            <a:r>
              <a:rPr dirty="0" err="1"/>
              <a:t>summarisation</a:t>
            </a:r>
            <a:r>
              <a:rPr dirty="0"/>
              <a:t>/QA tasks, refine failure/defense mapping.</a:t>
            </a:r>
          </a:p>
        </p:txBody>
      </p:sp>
      <p:pic>
        <p:nvPicPr>
          <p:cNvPr id="4" name="Picture 3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370053"/>
            <a:ext cx="4114800" cy="2810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Points for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/>
            </a:pPr>
            <a:r>
              <a:t>Feedback on taxonomy: does mapping social-engineering tactics cover all realistic risks?</a:t>
            </a:r>
          </a:p>
          <a:p>
            <a:pPr>
              <a:defRPr sz="2000"/>
            </a:pPr>
            <a:r>
              <a:t>Prioritisation of LLMs for testing: should focus be on CSIRO’s main platform models first?</a:t>
            </a:r>
          </a:p>
          <a:p>
            <a:pPr>
              <a:defRPr sz="2000"/>
            </a:pPr>
            <a:r>
              <a:t>Agree on evaluation metrics: Attack Success Rate, quality preservation, efficiency.</a:t>
            </a:r>
          </a:p>
          <a:p>
            <a:pPr>
              <a:defRPr sz="2000"/>
            </a:pPr>
            <a:r>
              <a:t>Advice on scope: test black-box defenses only, or explore structured (StruQ-style) defences too?</a:t>
            </a:r>
          </a:p>
          <a:p>
            <a:pPr>
              <a:defRPr sz="2000"/>
            </a:pPr>
            <a:r>
              <a:t>Confirm ethical guardrails for generated prompts and data handling.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204</TotalTime>
  <Words>651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ICT80004 Internship Project – Client Update (Weeks 1–5)</vt:lpstr>
      <vt:lpstr>Context &amp; Problem</vt:lpstr>
      <vt:lpstr>Approach</vt:lpstr>
      <vt:lpstr>Week 1 Work</vt:lpstr>
      <vt:lpstr>Week 2 Work</vt:lpstr>
      <vt:lpstr>Week 3 Work</vt:lpstr>
      <vt:lpstr>Week 4 Work</vt:lpstr>
      <vt:lpstr>Insights &amp; Learnings</vt:lpstr>
      <vt:lpstr>Systematization of Social Engineering Attacks</vt:lpstr>
      <vt:lpstr>Discussion Points for Client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RAGAVENDHAR ARUNACHALAM PALANIYAPPAN</cp:lastModifiedBy>
  <cp:revision>3</cp:revision>
  <dcterms:created xsi:type="dcterms:W3CDTF">2013-01-27T09:14:16Z</dcterms:created>
  <dcterms:modified xsi:type="dcterms:W3CDTF">2025-09-03T22:45:26Z</dcterms:modified>
  <cp:category/>
</cp:coreProperties>
</file>