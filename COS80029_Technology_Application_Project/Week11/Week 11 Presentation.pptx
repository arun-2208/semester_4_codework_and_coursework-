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58" r:id="rId12"/>
    <p:sldId id="261" r:id="rId13"/>
    <p:sldId id="262" r:id="rId14"/>
    <p:sldId id="260" r:id="rId15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9654C-1162-9FD3-3519-6A154CEE7981}" v="586" dt="2025-10-23T15:40:28.708"/>
    <p1510:client id="{FA371489-416E-8BD6-9390-BAEDBD0E16A2}" v="270" dt="2025-10-22T13:07:39.367"/>
    <p1510:client id="{FAAD375C-0763-8C93-5C0C-3EC82BA568FB}" v="369" dt="2025-10-23T12:00:18.5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316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491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652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069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942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761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29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130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78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636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0678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8370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67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9237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7325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269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763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</a:t>
            </a:r>
          </a:p>
          <a:p>
            <a:pPr lvl="6"/>
            <a:r>
              <a:rPr lang="en-US"/>
              <a:t>Seven</a:t>
            </a:r>
          </a:p>
          <a:p>
            <a:pPr lvl="7"/>
            <a:r>
              <a:rPr lang="en-US"/>
              <a:t>Eight</a:t>
            </a:r>
          </a:p>
          <a:p>
            <a:pPr lvl="8"/>
            <a:r>
              <a:rPr lang="en-US"/>
              <a:t>nine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7201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 Benchmarking </a:t>
            </a:r>
            <a:r>
              <a:rPr lang="en-GB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llm</a:t>
            </a:r>
            <a:r>
              <a:rPr lang="en-GB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 safety against social engineering techniques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4260273"/>
            <a:ext cx="8676222" cy="1905000"/>
          </a:xfrm>
        </p:spPr>
        <p:txBody>
          <a:bodyPr/>
          <a:lstStyle/>
          <a:p>
            <a:r>
              <a:rPr lang="en-GB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Calibri"/>
                <a:ea typeface="Calibri"/>
                <a:cs typeface="Calibri"/>
              </a:rPr>
              <a:t>Project xc2 – Week 11 update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71B539-3D8D-7B0B-8826-89B0B2990993}"/>
              </a:ext>
            </a:extLst>
          </p:cNvPr>
          <p:cNvSpPr txBox="1"/>
          <p:nvPr/>
        </p:nvSpPr>
        <p:spPr>
          <a:xfrm>
            <a:off x="900545" y="955963"/>
            <a:ext cx="1044632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Describe about prompts, labelling and fine tuning by Vaisakh</a:t>
            </a:r>
          </a:p>
        </p:txBody>
      </p:sp>
    </p:spTree>
    <p:extLst>
      <p:ext uri="{BB962C8B-B14F-4D97-AF65-F5344CB8AC3E}">
        <p14:creationId xmlns:p14="http://schemas.microsoft.com/office/powerpoint/2010/main" val="2092873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2EBDF-0BC5-9F34-5518-041C9FC97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9EAAD2-B330-8538-0101-8361FC8C5B41}"/>
              </a:ext>
            </a:extLst>
          </p:cNvPr>
          <p:cNvSpPr txBox="1"/>
          <p:nvPr/>
        </p:nvSpPr>
        <p:spPr>
          <a:xfrm>
            <a:off x="989445" y="473363"/>
            <a:ext cx="10446327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500" dirty="0"/>
              <a:t>Dataset Validation</a:t>
            </a:r>
            <a:endParaRPr lang="en-US" sz="25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1976D7-6EBF-2C13-DE42-CE6425BA8D56}"/>
              </a:ext>
            </a:extLst>
          </p:cNvPr>
          <p:cNvSpPr txBox="1"/>
          <p:nvPr/>
        </p:nvSpPr>
        <p:spPr>
          <a:xfrm>
            <a:off x="330200" y="1104900"/>
            <a:ext cx="6172200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Framework for the Dataset Validation </a:t>
            </a:r>
            <a:endParaRPr lang="en-US"/>
          </a:p>
          <a:p>
            <a:pPr>
              <a:lnSpc>
                <a:spcPct val="150000"/>
              </a:lnSpc>
            </a:pPr>
            <a:endParaRPr lang="en-US" sz="1600" b="1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500" b="1" dirty="0"/>
              <a:t>Completeness</a:t>
            </a:r>
            <a:r>
              <a:rPr lang="en-US" sz="1500" dirty="0"/>
              <a:t> (DAMA/ISO): “Missingness (strict)” checks that required fields are filled.</a:t>
            </a: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n-US" sz="1500" b="1" dirty="0"/>
              <a:t>Validity &amp; Consistency</a:t>
            </a:r>
            <a:r>
              <a:rPr lang="en-US" sz="1500" dirty="0"/>
              <a:t> (DAMA/ISO): Schema/types, technique vocabulary, and length sanity keep values in shape.</a:t>
            </a: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n-US" sz="1500" b="1" dirty="0"/>
              <a:t>Uniqueness</a:t>
            </a:r>
            <a:r>
              <a:rPr lang="en-US" sz="1500" dirty="0"/>
              <a:t> (DAMA/ISO): Exact/near-duplicate detection prevents repetition bias.</a:t>
            </a: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n-US" sz="1500" b="1" dirty="0"/>
              <a:t>Reliability/Consistency</a:t>
            </a:r>
            <a:r>
              <a:rPr lang="en-US" sz="1500" dirty="0"/>
              <a:t> (DAMA/ISO): Agreement (Direct vs Paraphrased) confirms labels are stable across wording.</a:t>
            </a: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n-US" sz="1500" b="1" dirty="0"/>
              <a:t>Integrity (ML)</a:t>
            </a:r>
            <a:r>
              <a:rPr lang="en-US" sz="1500" dirty="0"/>
              <a:t>: Split-leakage check keeps related items in the same split, protecting evaluation fairness.</a:t>
            </a: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n-US" sz="1500" b="1" dirty="0"/>
              <a:t>Representativeness</a:t>
            </a:r>
            <a:r>
              <a:rPr lang="en-US" sz="1500" dirty="0"/>
              <a:t>: Technique balance highlights coverage and fairness risks.</a:t>
            </a:r>
          </a:p>
          <a:p>
            <a:pPr algn="ctr"/>
            <a:endParaRPr lang="en-US"/>
          </a:p>
        </p:txBody>
      </p:sp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FA4DD936-7B1F-6589-C18A-BC282F189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385" y="1905000"/>
            <a:ext cx="5181230" cy="389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549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53EF8-A03A-00AF-7C6F-81AC435EC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8AEBEE-1081-EF4C-E7F7-E7EAF61BD9BC}"/>
              </a:ext>
            </a:extLst>
          </p:cNvPr>
          <p:cNvSpPr txBox="1"/>
          <p:nvPr/>
        </p:nvSpPr>
        <p:spPr>
          <a:xfrm>
            <a:off x="1027545" y="193963"/>
            <a:ext cx="1044632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/>
              <a:t>Balance of the Dataset by the Techniques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664C76-9E43-72FB-A983-30EF73C60B6F}"/>
              </a:ext>
            </a:extLst>
          </p:cNvPr>
          <p:cNvSpPr txBox="1"/>
          <p:nvPr/>
        </p:nvSpPr>
        <p:spPr>
          <a:xfrm>
            <a:off x="152400" y="1333500"/>
            <a:ext cx="5943600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endParaRPr lang="en-US" sz="1400" b="1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ea typeface="+mn-lt"/>
                <a:cs typeface="+mn-lt"/>
              </a:rPr>
              <a:t>What it is</a:t>
            </a:r>
            <a:br>
              <a:rPr lang="en-US" sz="1400" b="1" dirty="0">
                <a:ea typeface="+mn-lt"/>
                <a:cs typeface="+mn-lt"/>
              </a:rPr>
            </a:br>
            <a:r>
              <a:rPr lang="en-US" sz="1400" b="1" dirty="0">
                <a:ea typeface="+mn-lt"/>
                <a:cs typeface="+mn-lt"/>
              </a:rPr>
              <a:t>Counts of rows per Technique</a:t>
            </a:r>
            <a:r>
              <a:rPr lang="en-US" sz="1400" dirty="0">
                <a:ea typeface="+mn-lt"/>
                <a:cs typeface="+mn-lt"/>
              </a:rPr>
              <a:t>. If a row lists multiple techniques (e.g., “Pretexting, Urgency” or “A and B”), it’s grouped into </a:t>
            </a:r>
            <a:r>
              <a:rPr lang="en-US" sz="1400" b="1" dirty="0">
                <a:ea typeface="+mn-lt"/>
                <a:cs typeface="+mn-lt"/>
              </a:rPr>
              <a:t>Other (Combined)</a:t>
            </a:r>
            <a:r>
              <a:rPr lang="en-US" sz="1400" dirty="0">
                <a:ea typeface="+mn-lt"/>
                <a:cs typeface="+mn-lt"/>
              </a:rPr>
              <a:t> to avoid double-counting.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sz="1400" b="1" dirty="0">
                <a:ea typeface="+mn-lt"/>
                <a:cs typeface="+mn-lt"/>
              </a:rPr>
              <a:t>How to read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X-axis: technique names.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Y-axis: number of prompts.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Taller bar = more coverage for that technique.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ea typeface="+mn-lt"/>
                <a:cs typeface="+mn-lt"/>
              </a:rPr>
              <a:t>Why it matters (ISO/DAMA)</a:t>
            </a:r>
            <a:br>
              <a:rPr lang="en-US" sz="1400" b="1" dirty="0">
                <a:ea typeface="+mn-lt"/>
                <a:cs typeface="+mn-lt"/>
              </a:rPr>
            </a:br>
            <a:r>
              <a:rPr lang="en-US" sz="1400" b="1" dirty="0">
                <a:ea typeface="+mn-lt"/>
                <a:cs typeface="+mn-lt"/>
              </a:rPr>
              <a:t> Supports Representativeness/Completeness/Consistency</a:t>
            </a:r>
            <a:r>
              <a:rPr lang="en-US" sz="1400" dirty="0">
                <a:ea typeface="+mn-lt"/>
                <a:cs typeface="+mn-lt"/>
              </a:rPr>
              <a:t>. Balanced coverage reduces bias and improves evaluation fairness.</a:t>
            </a:r>
          </a:p>
          <a:p>
            <a:pPr>
              <a:lnSpc>
                <a:spcPct val="150000"/>
              </a:lnSpc>
            </a:pPr>
            <a:endParaRPr lang="en-US" sz="1400" b="1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en-US" sz="1600" b="1" dirty="0"/>
          </a:p>
          <a:p>
            <a:pPr algn="ctr"/>
            <a:endParaRPr lang="en-US"/>
          </a:p>
        </p:txBody>
      </p:sp>
      <p:pic>
        <p:nvPicPr>
          <p:cNvPr id="4" name="Picture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D366E6BA-5EF2-D4A0-7451-119B4467F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0" y="1825301"/>
            <a:ext cx="6071508" cy="3645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10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71735-A5C9-C425-4E62-BA595AECF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B08259-807D-7345-2AF1-F653A512432A}"/>
              </a:ext>
            </a:extLst>
          </p:cNvPr>
          <p:cNvSpPr txBox="1"/>
          <p:nvPr/>
        </p:nvSpPr>
        <p:spPr>
          <a:xfrm>
            <a:off x="1027545" y="193963"/>
            <a:ext cx="1044632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Representative Prompt Lengths and finding outliers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B62D03-32DA-84C0-D473-E5F0A15BA739}"/>
              </a:ext>
            </a:extLst>
          </p:cNvPr>
          <p:cNvSpPr txBox="1"/>
          <p:nvPr/>
        </p:nvSpPr>
        <p:spPr>
          <a:xfrm>
            <a:off x="152400" y="1143000"/>
            <a:ext cx="5283200" cy="48705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endParaRPr lang="en-US" sz="1400" b="1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1500" b="1" dirty="0">
                <a:ea typeface="+mn-lt"/>
                <a:cs typeface="+mn-lt"/>
              </a:rPr>
              <a:t>What it is</a:t>
            </a:r>
            <a:br>
              <a:rPr lang="en-US" sz="1500" b="1" dirty="0">
                <a:ea typeface="+mn-lt"/>
                <a:cs typeface="+mn-lt"/>
              </a:rPr>
            </a:br>
            <a:r>
              <a:rPr lang="en-US" sz="1500" b="1" dirty="0">
                <a:ea typeface="+mn-lt"/>
                <a:cs typeface="+mn-lt"/>
              </a:rPr>
              <a:t> Histogram of prompt lengths (characters), with a normal curve</a:t>
            </a:r>
            <a:r>
              <a:rPr lang="en-US" sz="1500" dirty="0">
                <a:ea typeface="+mn-lt"/>
                <a:cs typeface="+mn-lt"/>
              </a:rPr>
              <a:t> and a </a:t>
            </a:r>
            <a:r>
              <a:rPr lang="en-US" sz="1500" b="1" dirty="0">
                <a:ea typeface="+mn-lt"/>
                <a:cs typeface="+mn-lt"/>
              </a:rPr>
              <a:t>dashed red cutoff</a:t>
            </a:r>
            <a:r>
              <a:rPr lang="en-US" sz="1500" dirty="0">
                <a:ea typeface="+mn-lt"/>
                <a:cs typeface="+mn-lt"/>
              </a:rPr>
              <a:t> at </a:t>
            </a:r>
            <a:r>
              <a:rPr lang="en-US" sz="1500" b="1" dirty="0">
                <a:ea typeface="+mn-lt"/>
                <a:cs typeface="+mn-lt"/>
              </a:rPr>
              <a:t>mean + 3×SD</a:t>
            </a:r>
            <a:r>
              <a:rPr lang="en-US" sz="1500" dirty="0">
                <a:ea typeface="+mn-lt"/>
                <a:cs typeface="+mn-lt"/>
              </a:rPr>
              <a:t>. Right-side shaded area marks </a:t>
            </a:r>
            <a:r>
              <a:rPr lang="en-US" sz="1500" b="1" dirty="0">
                <a:ea typeface="+mn-lt"/>
                <a:cs typeface="+mn-lt"/>
              </a:rPr>
              <a:t>length outliers</a:t>
            </a:r>
            <a:r>
              <a:rPr lang="en-US" sz="1500" dirty="0">
                <a:ea typeface="+mn-lt"/>
                <a:cs typeface="+mn-lt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ea typeface="+mn-lt"/>
                <a:cs typeface="+mn-lt"/>
              </a:rPr>
              <a:t>How to read</a:t>
            </a:r>
            <a:endParaRPr lang="en-US" sz="1500" dirty="0"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500" dirty="0">
                <a:ea typeface="+mn-lt"/>
                <a:cs typeface="+mn-lt"/>
              </a:rPr>
              <a:t>X-axis: prompt length.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500" dirty="0">
                <a:ea typeface="+mn-lt"/>
                <a:cs typeface="+mn-lt"/>
              </a:rPr>
              <a:t>Y-axis: count of prompts in that bin.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500" dirty="0">
                <a:ea typeface="+mn-lt"/>
                <a:cs typeface="+mn-lt"/>
              </a:rPr>
              <a:t>The shaded region shows unusually long prompts.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ea typeface="+mn-lt"/>
                <a:cs typeface="+mn-lt"/>
              </a:rPr>
              <a:t>Why it matters (ISO/DAMA)</a:t>
            </a:r>
            <a:br>
              <a:rPr lang="en-US" sz="1500" b="1" dirty="0">
                <a:ea typeface="+mn-lt"/>
                <a:cs typeface="+mn-lt"/>
              </a:rPr>
            </a:br>
            <a:r>
              <a:rPr lang="en-US" sz="1500" b="1" dirty="0">
                <a:ea typeface="+mn-lt"/>
                <a:cs typeface="+mn-lt"/>
              </a:rPr>
              <a:t> Supports Validity/Consistency</a:t>
            </a:r>
            <a:r>
              <a:rPr lang="en-US" sz="1500" dirty="0">
                <a:ea typeface="+mn-lt"/>
                <a:cs typeface="+mn-lt"/>
              </a:rPr>
              <a:t>. Very long items can dominate evaluation or cause runtime issues.</a:t>
            </a:r>
            <a:endParaRPr lang="en-US" sz="1500" dirty="0"/>
          </a:p>
          <a:p>
            <a:pPr>
              <a:lnSpc>
                <a:spcPct val="150000"/>
              </a:lnSpc>
            </a:pPr>
            <a:endParaRPr lang="en-US" sz="1600" b="1" dirty="0">
              <a:ea typeface="+mn-lt"/>
              <a:cs typeface="+mn-lt"/>
            </a:endParaRPr>
          </a:p>
          <a:p>
            <a:pPr algn="ctr"/>
            <a:endParaRPr lang="en-US">
              <a:ea typeface="+mn-lt"/>
              <a:cs typeface="+mn-lt"/>
            </a:endParaRPr>
          </a:p>
        </p:txBody>
      </p:sp>
      <p:pic>
        <p:nvPicPr>
          <p:cNvPr id="5" name="Picture 4" descr="A graph with a curve&#10;&#10;AI-generated content may be incorrect.">
            <a:extLst>
              <a:ext uri="{FF2B5EF4-FFF2-40B4-BE49-F238E27FC236}">
                <a16:creationId xmlns:a16="http://schemas.microsoft.com/office/drawing/2014/main" id="{EFA7EEC1-85DB-CB9B-1BAC-DA159622A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229" y="3054350"/>
            <a:ext cx="5957592" cy="3581400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54F000-A6E2-D1F7-0A0A-F4BB94F66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700" y="679450"/>
            <a:ext cx="2197100" cy="226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402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062F3-B528-B6E3-2D6E-7411C5B2B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48B18F-2186-5B6D-5C8E-29A3A1B141E3}"/>
              </a:ext>
            </a:extLst>
          </p:cNvPr>
          <p:cNvSpPr txBox="1"/>
          <p:nvPr/>
        </p:nvSpPr>
        <p:spPr>
          <a:xfrm>
            <a:off x="1027545" y="193963"/>
            <a:ext cx="10446327" cy="3847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900" dirty="0">
                <a:ea typeface="+mn-lt"/>
                <a:cs typeface="+mn-lt"/>
              </a:rPr>
              <a:t>Missingness by prompt Columns </a:t>
            </a:r>
            <a:endParaRPr lang="en-US" sz="1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F5832B-C055-8864-A036-1FA99E7F0AC4}"/>
              </a:ext>
            </a:extLst>
          </p:cNvPr>
          <p:cNvSpPr txBox="1"/>
          <p:nvPr/>
        </p:nvSpPr>
        <p:spPr>
          <a:xfrm>
            <a:off x="406400" y="1143000"/>
            <a:ext cx="5283200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endParaRPr lang="en-US" sz="1500" b="1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1500" b="1" dirty="0">
                <a:ea typeface="+mn-lt"/>
                <a:cs typeface="+mn-lt"/>
              </a:rPr>
              <a:t>What it is</a:t>
            </a:r>
            <a:br>
              <a:rPr lang="en-US" sz="1500" b="1" dirty="0">
                <a:ea typeface="+mn-lt"/>
                <a:cs typeface="+mn-lt"/>
              </a:rPr>
            </a:br>
            <a:r>
              <a:rPr lang="en-US" sz="1500" b="1" dirty="0">
                <a:ea typeface="+mn-lt"/>
                <a:cs typeface="+mn-lt"/>
              </a:rPr>
              <a:t> % of strict missing</a:t>
            </a:r>
            <a:r>
              <a:rPr lang="en-US" sz="1500" dirty="0">
                <a:ea typeface="+mn-lt"/>
                <a:cs typeface="+mn-lt"/>
              </a:rPr>
              <a:t> per column, where missing = NA/blank/whitespace.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ea typeface="+mn-lt"/>
                <a:cs typeface="+mn-lt"/>
              </a:rPr>
              <a:t>How to read</a:t>
            </a:r>
            <a:endParaRPr lang="en-US" sz="1500" dirty="0"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500" dirty="0">
                <a:ea typeface="+mn-lt"/>
                <a:cs typeface="+mn-lt"/>
              </a:rPr>
              <a:t>X-axis: columns.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500" dirty="0">
                <a:ea typeface="+mn-lt"/>
                <a:cs typeface="+mn-lt"/>
              </a:rPr>
              <a:t>Y-axis: % missing (0–100%).</a:t>
            </a:r>
            <a:endParaRPr lang="en-US" sz="1500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500" dirty="0">
                <a:ea typeface="+mn-lt"/>
                <a:cs typeface="+mn-lt"/>
              </a:rPr>
              <a:t>Redder bars = more missing.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ea typeface="+mn-lt"/>
                <a:cs typeface="+mn-lt"/>
              </a:rPr>
              <a:t>Why it matters (ISO/DAMA)</a:t>
            </a:r>
            <a:br>
              <a:rPr lang="en-US" sz="1500" b="1" dirty="0">
                <a:ea typeface="+mn-lt"/>
                <a:cs typeface="+mn-lt"/>
              </a:rPr>
            </a:br>
            <a:r>
              <a:rPr lang="en-US" sz="1500" b="1" dirty="0">
                <a:ea typeface="+mn-lt"/>
                <a:cs typeface="+mn-lt"/>
              </a:rPr>
              <a:t> Maps to Completeness</a:t>
            </a:r>
            <a:r>
              <a:rPr lang="en-US" sz="1500" dirty="0">
                <a:ea typeface="+mn-lt"/>
                <a:cs typeface="+mn-lt"/>
              </a:rPr>
              <a:t>. Missing fields break analysis or skew results.</a:t>
            </a:r>
            <a:endParaRPr lang="en-US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en-US" sz="1500" dirty="0"/>
          </a:p>
          <a:p>
            <a:pPr>
              <a:lnSpc>
                <a:spcPct val="150000"/>
              </a:lnSpc>
            </a:pPr>
            <a:endParaRPr lang="en-US" sz="1600" b="1" dirty="0">
              <a:ea typeface="+mn-lt"/>
              <a:cs typeface="+mn-lt"/>
            </a:endParaRPr>
          </a:p>
          <a:p>
            <a:pPr algn="ctr"/>
            <a:endParaRPr lang="en-US">
              <a:ea typeface="+mn-lt"/>
              <a:cs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E1944A-1EA2-5BDD-5FDA-80F1F5F63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847" y="3316644"/>
            <a:ext cx="5591900" cy="3371850"/>
          </a:xfrm>
          <a:prstGeom prst="rect">
            <a:avLst/>
          </a:prstGeom>
        </p:spPr>
      </p:pic>
      <p:pic>
        <p:nvPicPr>
          <p:cNvPr id="8" name="Picture 7" descr="A screenshot of a data&#10;&#10;AI-generated content may be incorrect.">
            <a:extLst>
              <a:ext uri="{FF2B5EF4-FFF2-40B4-BE49-F238E27FC236}">
                <a16:creationId xmlns:a16="http://schemas.microsoft.com/office/drawing/2014/main" id="{0EF83A7F-04F3-19DA-B1D8-177314CC0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7425" y="692150"/>
            <a:ext cx="3968750" cy="241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011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6229E-6957-3696-9CA1-3EB3DD359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E27DA0-B8CC-49D8-96C7-4C9DF4643EA9}"/>
              </a:ext>
            </a:extLst>
          </p:cNvPr>
          <p:cNvSpPr txBox="1"/>
          <p:nvPr/>
        </p:nvSpPr>
        <p:spPr>
          <a:xfrm>
            <a:off x="1014845" y="549563"/>
            <a:ext cx="10446327" cy="3847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900" dirty="0">
                <a:ea typeface="+mn-lt"/>
                <a:cs typeface="+mn-lt"/>
              </a:rPr>
              <a:t>Rows showing Duplicity grouped by Technique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4B8E7D-09DE-F811-5678-92E41E245243}"/>
              </a:ext>
            </a:extLst>
          </p:cNvPr>
          <p:cNvSpPr txBox="1"/>
          <p:nvPr/>
        </p:nvSpPr>
        <p:spPr>
          <a:xfrm>
            <a:off x="406400" y="1143000"/>
            <a:ext cx="5283200" cy="55861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endParaRPr lang="en-US" sz="1500" b="1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en-US" sz="1500" b="1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1500" b="1" dirty="0">
                <a:ea typeface="+mn-lt"/>
                <a:cs typeface="+mn-lt"/>
              </a:rPr>
              <a:t>What it is</a:t>
            </a:r>
            <a:br>
              <a:rPr lang="en-US" sz="1500" b="1" dirty="0">
                <a:ea typeface="+mn-lt"/>
                <a:cs typeface="+mn-lt"/>
              </a:rPr>
            </a:br>
            <a:r>
              <a:rPr lang="en-US" sz="1500" b="1" dirty="0">
                <a:ea typeface="+mn-lt"/>
                <a:cs typeface="+mn-lt"/>
              </a:rPr>
              <a:t> Counts of rows</a:t>
            </a:r>
            <a:r>
              <a:rPr lang="en-US" sz="1500" dirty="0">
                <a:ea typeface="+mn-lt"/>
                <a:cs typeface="+mn-lt"/>
              </a:rPr>
              <a:t> that belong to </a:t>
            </a:r>
            <a:r>
              <a:rPr lang="en-US" sz="1500" b="1" dirty="0">
                <a:ea typeface="+mn-lt"/>
                <a:cs typeface="+mn-lt"/>
              </a:rPr>
              <a:t>any duplicate set</a:t>
            </a:r>
            <a:r>
              <a:rPr lang="en-US" sz="1500" dirty="0">
                <a:ea typeface="+mn-lt"/>
                <a:cs typeface="+mn-lt"/>
              </a:rPr>
              <a:t> (either exact dup across main text fields or near-dup by similarity), grouped by technique.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ea typeface="+mn-lt"/>
                <a:cs typeface="+mn-lt"/>
              </a:rPr>
              <a:t>How to read</a:t>
            </a:r>
            <a:endParaRPr lang="en-US" sz="1500" dirty="0"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500" dirty="0">
                <a:ea typeface="+mn-lt"/>
                <a:cs typeface="+mn-lt"/>
              </a:rPr>
              <a:t>X-axis: technique.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500" dirty="0">
                <a:ea typeface="+mn-lt"/>
                <a:cs typeface="+mn-lt"/>
              </a:rPr>
              <a:t>Y-axis: number of rows that are in duplicate clusters.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ea typeface="+mn-lt"/>
                <a:cs typeface="+mn-lt"/>
              </a:rPr>
              <a:t>Why it matters (ISO/DAMA)</a:t>
            </a:r>
            <a:br>
              <a:rPr lang="en-US" sz="1500" b="1" dirty="0">
                <a:ea typeface="+mn-lt"/>
                <a:cs typeface="+mn-lt"/>
              </a:rPr>
            </a:br>
            <a:r>
              <a:rPr lang="en-US" sz="1500" b="1" dirty="0">
                <a:ea typeface="+mn-lt"/>
                <a:cs typeface="+mn-lt"/>
              </a:rPr>
              <a:t> Directly addresses Uniqueness</a:t>
            </a:r>
            <a:r>
              <a:rPr lang="en-US" sz="1500" dirty="0">
                <a:ea typeface="+mn-lt"/>
                <a:cs typeface="+mn-lt"/>
              </a:rPr>
              <a:t>. Duplicates inflate metrics and reduce variety.</a:t>
            </a:r>
          </a:p>
          <a:p>
            <a:pPr>
              <a:lnSpc>
                <a:spcPct val="150000"/>
              </a:lnSpc>
            </a:pPr>
            <a:endParaRPr lang="en-US" sz="1500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en-US" sz="1500" dirty="0"/>
          </a:p>
          <a:p>
            <a:pPr>
              <a:lnSpc>
                <a:spcPct val="150000"/>
              </a:lnSpc>
            </a:pPr>
            <a:endParaRPr lang="en-US" sz="1600" b="1" dirty="0">
              <a:ea typeface="+mn-lt"/>
              <a:cs typeface="+mn-lt"/>
            </a:endParaRPr>
          </a:p>
          <a:p>
            <a:pPr algn="ctr"/>
            <a:endParaRPr lang="en-US">
              <a:ea typeface="+mn-lt"/>
              <a:cs typeface="+mn-lt"/>
            </a:endParaRPr>
          </a:p>
        </p:txBody>
      </p:sp>
      <p:pic>
        <p:nvPicPr>
          <p:cNvPr id="5" name="Picture 4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4E10FF0A-1162-821A-DFA6-7CB617339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904" y="1967333"/>
            <a:ext cx="5979293" cy="359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18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4738D-E036-65FC-F7C8-A85E6CB22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E2EAA7-2073-F774-4ADF-0DD431BD87BB}"/>
              </a:ext>
            </a:extLst>
          </p:cNvPr>
          <p:cNvSpPr txBox="1"/>
          <p:nvPr/>
        </p:nvSpPr>
        <p:spPr>
          <a:xfrm>
            <a:off x="1052945" y="270163"/>
            <a:ext cx="1044632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ea typeface="+mn-lt"/>
                <a:cs typeface="+mn-lt"/>
              </a:rPr>
              <a:t>Direct vs Paraphrased Agreement (per model)</a:t>
            </a:r>
            <a:endParaRPr lang="en-US" sz="2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8FA3A2-940D-223F-F99D-CD096EDB082A}"/>
              </a:ext>
            </a:extLst>
          </p:cNvPr>
          <p:cNvSpPr txBox="1"/>
          <p:nvPr/>
        </p:nvSpPr>
        <p:spPr>
          <a:xfrm>
            <a:off x="254000" y="673100"/>
            <a:ext cx="5168900" cy="59474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endParaRPr lang="en-US" sz="1500" b="1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1500" b="1" dirty="0">
                <a:ea typeface="+mn-lt"/>
                <a:cs typeface="+mn-lt"/>
              </a:rPr>
              <a:t>What it is</a:t>
            </a:r>
            <a:br>
              <a:rPr lang="en-US" sz="1500" b="1" dirty="0">
                <a:ea typeface="+mn-lt"/>
                <a:cs typeface="+mn-lt"/>
              </a:rPr>
            </a:br>
            <a:r>
              <a:rPr lang="en-US" sz="1500" b="1" dirty="0">
                <a:ea typeface="+mn-lt"/>
                <a:cs typeface="+mn-lt"/>
              </a:rPr>
              <a:t> For each model (Grok, GPT-5, Gemini), this is the % of times the label</a:t>
            </a:r>
            <a:r>
              <a:rPr lang="en-US" sz="1500" dirty="0">
                <a:ea typeface="+mn-lt"/>
                <a:cs typeface="+mn-lt"/>
              </a:rPr>
              <a:t> on the </a:t>
            </a:r>
            <a:r>
              <a:rPr lang="en-US" sz="1500" b="1" dirty="0">
                <a:ea typeface="+mn-lt"/>
                <a:cs typeface="+mn-lt"/>
              </a:rPr>
              <a:t>Direct Prompt</a:t>
            </a:r>
            <a:r>
              <a:rPr lang="en-US" sz="1500" dirty="0">
                <a:ea typeface="+mn-lt"/>
                <a:cs typeface="+mn-lt"/>
              </a:rPr>
              <a:t> matches the label on the </a:t>
            </a:r>
            <a:r>
              <a:rPr lang="en-US" sz="1500" b="1" dirty="0">
                <a:ea typeface="+mn-lt"/>
                <a:cs typeface="+mn-lt"/>
              </a:rPr>
              <a:t>Paraphrased Prompt</a:t>
            </a:r>
            <a:r>
              <a:rPr lang="en-US" sz="1500" dirty="0">
                <a:ea typeface="+mn-lt"/>
                <a:cs typeface="+mn-lt"/>
              </a:rPr>
              <a:t> (plus Cohen’s κ in the tables).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500" b="1" dirty="0">
                <a:ea typeface="+mn-lt"/>
                <a:cs typeface="+mn-lt"/>
              </a:rPr>
              <a:t>How to read</a:t>
            </a:r>
            <a:endParaRPr lang="en-US" sz="1500" dirty="0"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500" dirty="0">
                <a:ea typeface="+mn-lt"/>
                <a:cs typeface="+mn-lt"/>
              </a:rPr>
              <a:t>Bar height = </a:t>
            </a:r>
            <a:r>
              <a:rPr lang="en-US" sz="1500" b="1" dirty="0">
                <a:ea typeface="+mn-lt"/>
                <a:cs typeface="+mn-lt"/>
              </a:rPr>
              <a:t>Percent Agreement</a:t>
            </a:r>
            <a:r>
              <a:rPr lang="en-US" sz="1500" dirty="0">
                <a:ea typeface="+mn-lt"/>
                <a:cs typeface="+mn-lt"/>
              </a:rPr>
              <a:t> (0–100%).</a:t>
            </a:r>
            <a:endParaRPr lang="en-US" sz="1500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500" dirty="0">
                <a:ea typeface="+mn-lt"/>
                <a:cs typeface="+mn-lt"/>
              </a:rPr>
              <a:t>Higher is better (labels are stable under paraphrase).</a:t>
            </a:r>
            <a:endParaRPr lang="en-US" sz="1500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500" dirty="0">
                <a:ea typeface="+mn-lt"/>
                <a:cs typeface="+mn-lt"/>
              </a:rPr>
              <a:t>Detailed tables show </a:t>
            </a:r>
            <a:r>
              <a:rPr lang="en-US" sz="1500" b="1" dirty="0">
                <a:ea typeface="+mn-lt"/>
                <a:cs typeface="+mn-lt"/>
              </a:rPr>
              <a:t>n pairs, % agreement, κ</a:t>
            </a:r>
            <a:r>
              <a:rPr lang="en-US" sz="1500" dirty="0">
                <a:ea typeface="+mn-lt"/>
                <a:cs typeface="+mn-lt"/>
              </a:rPr>
              <a:t>, and </a:t>
            </a:r>
            <a:r>
              <a:rPr lang="en-US" sz="1500" b="1" dirty="0">
                <a:ea typeface="+mn-lt"/>
                <a:cs typeface="+mn-lt"/>
              </a:rPr>
              <a:t>confusion</a:t>
            </a:r>
            <a:r>
              <a:rPr lang="en-US" sz="1500" dirty="0">
                <a:ea typeface="+mn-lt"/>
                <a:cs typeface="+mn-lt"/>
              </a:rPr>
              <a:t> (which labels flip into which).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500" b="1" dirty="0">
                <a:ea typeface="+mn-lt"/>
                <a:cs typeface="+mn-lt"/>
              </a:rPr>
              <a:t>Why it matters (ISO/DAMA)</a:t>
            </a:r>
            <a:br>
              <a:rPr lang="en-US" sz="1500" b="1" dirty="0">
                <a:ea typeface="+mn-lt"/>
                <a:cs typeface="+mn-lt"/>
              </a:rPr>
            </a:br>
            <a:r>
              <a:rPr lang="en-US" sz="1500" b="1" dirty="0">
                <a:ea typeface="+mn-lt"/>
                <a:cs typeface="+mn-lt"/>
              </a:rPr>
              <a:t> Maps to Reliability/Consistency</a:t>
            </a:r>
            <a:r>
              <a:rPr lang="en-US" sz="1500" dirty="0">
                <a:ea typeface="+mn-lt"/>
                <a:cs typeface="+mn-lt"/>
              </a:rPr>
              <a:t> (and label </a:t>
            </a:r>
            <a:r>
              <a:rPr lang="en-US" sz="1500" b="1" dirty="0">
                <a:ea typeface="+mn-lt"/>
                <a:cs typeface="+mn-lt"/>
              </a:rPr>
              <a:t>Accuracy</a:t>
            </a:r>
            <a:r>
              <a:rPr lang="en-US" sz="1500" dirty="0">
                <a:ea typeface="+mn-lt"/>
                <a:cs typeface="+mn-lt"/>
              </a:rPr>
              <a:t>). If wording changes flip the label, definitions or examples may be unclear.</a:t>
            </a:r>
          </a:p>
          <a:p>
            <a:pPr algn="ctr"/>
            <a:endParaRPr lang="en-US">
              <a:ea typeface="+mn-lt"/>
              <a:cs typeface="+mn-lt"/>
            </a:endParaRPr>
          </a:p>
        </p:txBody>
      </p:sp>
      <p:pic>
        <p:nvPicPr>
          <p:cNvPr id="6" name="Picture 5" descr="A graph showing a number of different colored squares&#10;&#10;AI-generated content may be incorrect.">
            <a:extLst>
              <a:ext uri="{FF2B5EF4-FFF2-40B4-BE49-F238E27FC236}">
                <a16:creationId xmlns:a16="http://schemas.microsoft.com/office/drawing/2014/main" id="{DBB99511-386A-EE6B-4653-644A9C1F4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111" y="1714241"/>
            <a:ext cx="6388156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515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7CD86-1CD9-ACE6-E76E-0F31B40AF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25B0C5-86F9-9C44-E453-9D96B9AC956D}"/>
              </a:ext>
            </a:extLst>
          </p:cNvPr>
          <p:cNvSpPr txBox="1"/>
          <p:nvPr/>
        </p:nvSpPr>
        <p:spPr>
          <a:xfrm>
            <a:off x="1052945" y="92363"/>
            <a:ext cx="1044632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ea typeface="+mn-lt"/>
                <a:cs typeface="+mn-lt"/>
              </a:rPr>
              <a:t>Inter-Model Agreement on Paraphrased Results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2D17BF-74AA-186A-22D6-F4972600E61D}"/>
              </a:ext>
            </a:extLst>
          </p:cNvPr>
          <p:cNvSpPr txBox="1"/>
          <p:nvPr/>
        </p:nvSpPr>
        <p:spPr>
          <a:xfrm>
            <a:off x="609600" y="495300"/>
            <a:ext cx="11722100" cy="24720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50" b="1" dirty="0">
                <a:ea typeface="+mn-lt"/>
                <a:cs typeface="+mn-lt"/>
              </a:rPr>
              <a:t>What it is</a:t>
            </a:r>
            <a:br>
              <a:rPr lang="en-US" sz="1450" b="1" dirty="0">
                <a:ea typeface="+mn-lt"/>
                <a:cs typeface="+mn-lt"/>
              </a:rPr>
            </a:br>
            <a:r>
              <a:rPr lang="en-US" sz="1450" b="1" dirty="0">
                <a:ea typeface="+mn-lt"/>
                <a:cs typeface="+mn-lt"/>
              </a:rPr>
              <a:t> Agreement (%) between models on paraphrased</a:t>
            </a:r>
            <a:r>
              <a:rPr lang="en-US" sz="1450" dirty="0">
                <a:ea typeface="+mn-lt"/>
                <a:cs typeface="+mn-lt"/>
              </a:rPr>
              <a:t> outcomes (Grok↔GPT-5, </a:t>
            </a:r>
            <a:r>
              <a:rPr lang="en-US" sz="1450" err="1">
                <a:ea typeface="+mn-lt"/>
                <a:cs typeface="+mn-lt"/>
              </a:rPr>
              <a:t>Grok↔Gemini</a:t>
            </a:r>
            <a:r>
              <a:rPr lang="en-US" sz="1450" dirty="0">
                <a:ea typeface="+mn-lt"/>
                <a:cs typeface="+mn-lt"/>
              </a:rPr>
              <a:t>, GPT-5↔Gemini).</a:t>
            </a:r>
            <a:endParaRPr lang="en-US" sz="1450" b="1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1450" b="1" dirty="0">
                <a:ea typeface="+mn-lt"/>
                <a:cs typeface="+mn-lt"/>
              </a:rPr>
              <a:t>How to read</a:t>
            </a:r>
            <a:endParaRPr lang="en-US" sz="1450" dirty="0"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50" dirty="0">
                <a:ea typeface="+mn-lt"/>
                <a:cs typeface="+mn-lt"/>
              </a:rPr>
              <a:t>Bar height = % agreement between model pair.</a:t>
            </a:r>
            <a:endParaRPr lang="en-US" sz="145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50" dirty="0">
                <a:ea typeface="+mn-lt"/>
                <a:cs typeface="+mn-lt"/>
              </a:rPr>
              <a:t>Higher = models converge on the same decisions.</a:t>
            </a:r>
            <a:endParaRPr lang="en-US" sz="1450"/>
          </a:p>
          <a:p>
            <a:pPr>
              <a:lnSpc>
                <a:spcPct val="150000"/>
              </a:lnSpc>
            </a:pPr>
            <a:r>
              <a:rPr lang="en-US" sz="1450" b="1" dirty="0">
                <a:ea typeface="+mn-lt"/>
                <a:cs typeface="+mn-lt"/>
              </a:rPr>
              <a:t>Why it matters (ISO/DAMA)</a:t>
            </a:r>
            <a:br>
              <a:rPr lang="en-US" sz="1450" b="1" dirty="0">
                <a:ea typeface="+mn-lt"/>
                <a:cs typeface="+mn-lt"/>
              </a:rPr>
            </a:br>
            <a:r>
              <a:rPr lang="en-US" sz="1450" b="1" dirty="0">
                <a:ea typeface="+mn-lt"/>
                <a:cs typeface="+mn-lt"/>
              </a:rPr>
              <a:t> Supports Consistency</a:t>
            </a:r>
            <a:r>
              <a:rPr lang="en-US" sz="1450" dirty="0">
                <a:ea typeface="+mn-lt"/>
                <a:cs typeface="+mn-lt"/>
              </a:rPr>
              <a:t> across systems. Divergence may signal ambiguous definitions or edge-case prompts.</a:t>
            </a:r>
          </a:p>
        </p:txBody>
      </p:sp>
      <p:pic>
        <p:nvPicPr>
          <p:cNvPr id="6" name="Picture 5" descr="A table of numbers and symbols&#10;&#10;AI-generated content may be incorrect.">
            <a:extLst>
              <a:ext uri="{FF2B5EF4-FFF2-40B4-BE49-F238E27FC236}">
                <a16:creationId xmlns:a16="http://schemas.microsoft.com/office/drawing/2014/main" id="{78B4195C-8B1F-333B-546B-B375052D4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483" y="2997200"/>
            <a:ext cx="3003534" cy="3765550"/>
          </a:xfrm>
          <a:prstGeom prst="rect">
            <a:avLst/>
          </a:prstGeom>
        </p:spPr>
      </p:pic>
      <p:pic>
        <p:nvPicPr>
          <p:cNvPr id="7" name="Picture 6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3E5B48D9-DE74-97BF-E465-CD25A541A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285" y="3136900"/>
            <a:ext cx="5838281" cy="349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41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5D0050-C4A4-C5EA-F58B-CF88CA457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350" y="282575"/>
            <a:ext cx="6972300" cy="1714500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7583D9-CACE-0D3E-DC01-4AB4442DE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350" y="2571750"/>
            <a:ext cx="6965950" cy="1714500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FACDBF-088C-62C2-E673-D52EADBE1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0" y="4851400"/>
            <a:ext cx="6978650" cy="158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104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384AC0-FFDB-8999-3D9E-862A20DBF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CDC2E1-28CF-9E90-DA49-B7186787F9C8}"/>
              </a:ext>
            </a:extLst>
          </p:cNvPr>
          <p:cNvSpPr txBox="1"/>
          <p:nvPr/>
        </p:nvSpPr>
        <p:spPr>
          <a:xfrm>
            <a:off x="643191" y="609600"/>
            <a:ext cx="6573685" cy="19050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defTabSz="457200">
              <a:spcBef>
                <a:spcPct val="0"/>
              </a:spcBef>
              <a:spcAft>
                <a:spcPts val="600"/>
              </a:spcAft>
            </a:pPr>
            <a:r>
              <a:rPr lang="en-US" sz="3200" b="1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Human Success Rate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4C93C0-20CB-B191-3954-4A194E18CCF2}"/>
              </a:ext>
            </a:extLst>
          </p:cNvPr>
          <p:cNvSpPr txBox="1"/>
          <p:nvPr/>
        </p:nvSpPr>
        <p:spPr>
          <a:xfrm>
            <a:off x="643192" y="2666999"/>
            <a:ext cx="6573684" cy="321627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28600" indent="-22860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9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We started by merging and standardizing the dataset containing both </a:t>
            </a:r>
            <a:r>
              <a:rPr lang="en-US" sz="900" i="1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direct</a:t>
            </a:r>
            <a:r>
              <a:rPr lang="en-US" sz="9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and </a:t>
            </a:r>
            <a:r>
              <a:rPr lang="en-US" sz="900" i="1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paraphrased</a:t>
            </a:r>
            <a:r>
              <a:rPr lang="en-US" sz="9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prompts along with their </a:t>
            </a:r>
            <a:r>
              <a:rPr lang="en-US" sz="900" i="1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human evaluation labels</a:t>
            </a:r>
            <a:r>
              <a:rPr lang="en-US" sz="9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.</a:t>
            </a:r>
          </a:p>
          <a:p>
            <a:pPr marL="228600" indent="-22860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9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Then restructured the dataset to have the result of one model per row</a:t>
            </a:r>
          </a:p>
          <a:p>
            <a:pPr marL="228600" indent="-22860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9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Ensured structural consistency across columns such as </a:t>
            </a:r>
            <a:r>
              <a:rPr lang="en-US" sz="900" i="1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Technique</a:t>
            </a:r>
            <a:r>
              <a:rPr lang="en-US" sz="9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, </a:t>
            </a:r>
            <a:r>
              <a:rPr lang="en-US" sz="900" i="1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Attack Category</a:t>
            </a:r>
            <a:r>
              <a:rPr lang="en-US" sz="9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, </a:t>
            </a:r>
            <a:r>
              <a:rPr lang="en-US" sz="900" i="1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Model</a:t>
            </a:r>
            <a:r>
              <a:rPr lang="en-US" sz="9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, and </a:t>
            </a:r>
            <a:r>
              <a:rPr lang="en-US" sz="900" i="1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Judge Label</a:t>
            </a:r>
            <a:r>
              <a:rPr lang="en-US" sz="9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before moving to clustering and visualization.</a:t>
            </a:r>
          </a:p>
          <a:p>
            <a:pPr marL="228600" indent="-22860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9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Overall average success rates were 31.5% for direct prompts and 58.7% for paraphrased prompts, showing paraphrasing almost </a:t>
            </a:r>
            <a:r>
              <a:rPr lang="en-US" sz="900" i="1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doubles success rate</a:t>
            </a:r>
            <a:r>
              <a:rPr lang="en-US" sz="9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.</a:t>
            </a:r>
          </a:p>
          <a:p>
            <a:pPr marL="228600" indent="-22860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9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Among models, Grok performed best (0.84 for paraphrased), followed by Gemini (0.50) and GPT-5 (0.43) — meaning Grok is most vulnerable to paraphrased attacks.</a:t>
            </a:r>
          </a:p>
          <a:p>
            <a:pPr marL="228600" indent="-22860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9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By </a:t>
            </a:r>
            <a:r>
              <a:rPr lang="en-US" sz="900" i="1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attack category</a:t>
            </a:r>
            <a:r>
              <a:rPr lang="en-US" sz="9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, top vulnerabilities were:</a:t>
            </a:r>
          </a:p>
          <a:p>
            <a:pPr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9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                  a. Medical &amp; Health Misinformation (0.78)</a:t>
            </a:r>
          </a:p>
          <a:p>
            <a:pPr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9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                  b. Hacking (0.75)</a:t>
            </a:r>
          </a:p>
          <a:p>
            <a:pPr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9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                  c. Scamming (0.71)</a:t>
            </a:r>
          </a:p>
          <a:p>
            <a:pPr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9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In </a:t>
            </a:r>
            <a:r>
              <a:rPr lang="en-US" sz="900" i="1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techniques</a:t>
            </a:r>
            <a:r>
              <a:rPr lang="en-US" sz="9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, “Incentive &amp; Motivator + Pretexting” and “Pretexting, Impersonation, Verbal Deception” had the highest paraphrased success rates, both reaching 1.0, showing strong influence-based manipulation effectiveness.</a:t>
            </a:r>
          </a:p>
          <a:p>
            <a:pPr marL="228600" indent="-22860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endParaRPr lang="en-US" sz="900" cap="small">
              <a:gradFill flip="none" rotWithShape="1">
                <a:gsLst>
                  <a:gs pos="0">
                    <a:schemeClr val="tx1"/>
                  </a:gs>
                  <a:gs pos="100000">
                    <a:schemeClr val="tx1">
                      <a:lumMod val="75000"/>
                    </a:schemeClr>
                  </a:gs>
                </a:gsLst>
                <a:lin ang="5580000" scaled="0"/>
                <a:tileRect/>
              </a:gradFill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pic>
        <p:nvPicPr>
          <p:cNvPr id="4" name="Picture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B3EB73CE-4F39-1A5C-1BA8-3EF75D7C0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839" y="2056059"/>
            <a:ext cx="3976788" cy="2425840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284867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FF65CD-8D04-1DD8-D857-12D171A08C7E}"/>
              </a:ext>
            </a:extLst>
          </p:cNvPr>
          <p:cNvSpPr txBox="1"/>
          <p:nvPr/>
        </p:nvSpPr>
        <p:spPr>
          <a:xfrm>
            <a:off x="643191" y="609600"/>
            <a:ext cx="6573685" cy="19050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defTabSz="457200">
              <a:spcBef>
                <a:spcPct val="0"/>
              </a:spcBef>
              <a:spcAft>
                <a:spcPts val="600"/>
              </a:spcAft>
            </a:pPr>
            <a:r>
              <a:rPr lang="en-US" sz="3200" b="1" cap="all" baseline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Clustering of Paraphrased Prompts</a:t>
            </a:r>
            <a:r>
              <a:rPr lang="en-US" sz="3200" b="1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​</a:t>
            </a:r>
          </a:p>
          <a:p>
            <a:pPr defTabSz="457200">
              <a:spcBef>
                <a:spcPct val="0"/>
              </a:spcBef>
              <a:spcAft>
                <a:spcPts val="600"/>
              </a:spcAft>
            </a:pPr>
            <a:endParaRPr lang="en-US" sz="3200" b="1" cap="all">
              <a:ln w="3175" cmpd="sng">
                <a:noFill/>
              </a:ln>
              <a:gradFill flip="none" rotWithShape="1">
                <a:gsLst>
                  <a:gs pos="0">
                    <a:schemeClr val="tx1"/>
                  </a:gs>
                  <a:gs pos="100000">
                    <a:schemeClr val="tx1">
                      <a:lumMod val="65000"/>
                    </a:schemeClr>
                  </a:gs>
                </a:gsLst>
                <a:lin ang="5580000" scaled="0"/>
                <a:tileRect/>
              </a:gradFill>
              <a:effectLst>
                <a:glow rad="38100">
                  <a:schemeClr val="bg1">
                    <a:lumMod val="65000"/>
                    <a:lumOff val="35000"/>
                    <a:alpha val="40000"/>
                  </a:scheme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F2C4DF-0694-8790-EA7A-B9B072B55762}"/>
              </a:ext>
            </a:extLst>
          </p:cNvPr>
          <p:cNvSpPr txBox="1"/>
          <p:nvPr/>
        </p:nvSpPr>
        <p:spPr>
          <a:xfrm>
            <a:off x="643192" y="2666999"/>
            <a:ext cx="6573684" cy="321627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28600" indent="-22860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11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Used TF-IDF feature extraction followed by KMeans clustering (k=6 chosen via Elbow method).</a:t>
            </a:r>
          </a:p>
          <a:p>
            <a:pPr marL="228600" indent="-22860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11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Resulted in 6 distinct clusters, with the largest two clusters (labels 2 &amp; 5) dominating — together covering over 1,500 prompts.</a:t>
            </a:r>
          </a:p>
          <a:p>
            <a:pPr marL="228600" indent="-22860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11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Each cluster represents semantically related attack patterns:</a:t>
            </a:r>
          </a:p>
          <a:p>
            <a:pPr marL="0" lvl="1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11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                a. Cluster 0: </a:t>
            </a:r>
            <a:r>
              <a:rPr lang="en-US" sz="1100" i="1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Persuasion – Harassment</a:t>
            </a:r>
          </a:p>
          <a:p>
            <a:pPr marL="0" lvl="1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11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                b. Cluster 1: </a:t>
            </a:r>
            <a:r>
              <a:rPr lang="en-US" sz="1100" i="1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Attention Grabbing – Criminal Planning</a:t>
            </a:r>
            <a:endParaRPr lang="en-US" sz="1100" cap="small">
              <a:gradFill flip="none" rotWithShape="1">
                <a:gsLst>
                  <a:gs pos="0">
                    <a:schemeClr val="tx1"/>
                  </a:gs>
                  <a:gs pos="100000">
                    <a:schemeClr val="tx1">
                      <a:lumMod val="75000"/>
                    </a:schemeClr>
                  </a:gs>
                </a:gsLst>
                <a:lin ang="5580000" scaled="0"/>
                <a:tileRect/>
              </a:gradFill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marL="0" lvl="1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11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                c. Cluster 2: </a:t>
            </a:r>
            <a:r>
              <a:rPr lang="en-US" sz="1100" i="1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Pretexting – Criminal Planning</a:t>
            </a:r>
          </a:p>
          <a:p>
            <a:pPr marL="0" lvl="1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11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                d. Cluster 3: </a:t>
            </a:r>
            <a:r>
              <a:rPr lang="en-US" sz="1100" i="1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Persuasion – Legal &amp; Regulatory Evasion</a:t>
            </a:r>
          </a:p>
          <a:p>
            <a:pPr marL="0" lvl="1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11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                e. Cluster 4: </a:t>
            </a:r>
            <a:r>
              <a:rPr lang="en-US" sz="1100" i="1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Persuasion – Hacking</a:t>
            </a:r>
          </a:p>
          <a:p>
            <a:pPr marL="0" lvl="1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11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                f. Cluster 5: </a:t>
            </a:r>
            <a:r>
              <a:rPr lang="en-US" sz="1100" i="1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Pretexting – Violence and Hate</a:t>
            </a:r>
          </a:p>
          <a:p>
            <a:pPr marL="228600" indent="-22860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11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Cluster-level success shows Grok consistently highest, especially in clusters 2 and 5 (Criminal Planning, Violence &amp; Hate).</a:t>
            </a:r>
          </a:p>
          <a:p>
            <a:pPr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endParaRPr lang="en-US" sz="1100" cap="small">
              <a:gradFill flip="none" rotWithShape="1">
                <a:gsLst>
                  <a:gs pos="0">
                    <a:schemeClr val="tx1"/>
                  </a:gs>
                  <a:gs pos="100000">
                    <a:schemeClr val="tx1">
                      <a:lumMod val="75000"/>
                    </a:schemeClr>
                  </a:gs>
                </a:gsLst>
                <a:lin ang="5580000" scaled="0"/>
                <a:tileRect/>
              </a:gradFill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C8C56A-B0E4-4474-1C2C-3F5640967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839" y="2254899"/>
            <a:ext cx="3976788" cy="2028161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533879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644712-4EFC-72EF-C95D-B21D8E1CD832}"/>
              </a:ext>
            </a:extLst>
          </p:cNvPr>
          <p:cNvSpPr txBox="1"/>
          <p:nvPr/>
        </p:nvSpPr>
        <p:spPr>
          <a:xfrm>
            <a:off x="643191" y="609600"/>
            <a:ext cx="6573685" cy="19050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defTabSz="457200">
              <a:spcBef>
                <a:spcPct val="0"/>
              </a:spcBef>
              <a:spcAft>
                <a:spcPts val="600"/>
              </a:spcAft>
            </a:pPr>
            <a:r>
              <a:rPr lang="en-US" sz="3200" b="1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Judge vs </a:t>
            </a:r>
            <a:r>
              <a:rPr lang="en-US" sz="3200" b="1" cap="all" baseline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Human </a:t>
            </a:r>
            <a:r>
              <a:rPr lang="en-US" sz="3200" b="1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Comparison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DB12D9-7618-4D2A-F470-4A78D9FC5E6D}"/>
              </a:ext>
            </a:extLst>
          </p:cNvPr>
          <p:cNvSpPr txBox="1"/>
          <p:nvPr/>
        </p:nvSpPr>
        <p:spPr>
          <a:xfrm>
            <a:off x="643192" y="2666999"/>
            <a:ext cx="6573684" cy="321627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28600" indent="-22860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15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The </a:t>
            </a:r>
            <a:r>
              <a:rPr lang="en-US" sz="1500" i="1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Judge</a:t>
            </a:r>
            <a:r>
              <a:rPr lang="en-US" sz="15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model labeled outputs as Safe or Unsafe, compared with human “Success” or “Fail” decisions.</a:t>
            </a:r>
          </a:p>
          <a:p>
            <a:pPr marL="228600" indent="-22860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15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Confusion Matrix shows 62.9% agreement accuracy overall.</a:t>
            </a:r>
          </a:p>
          <a:p>
            <a:pPr marL="228600" indent="-22860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15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Precision–Recall metrics:</a:t>
            </a:r>
          </a:p>
          <a:p>
            <a:pPr marL="0" lvl="1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1500" i="1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                 a. Fail class:</a:t>
            </a:r>
            <a:r>
              <a:rPr lang="en-US" sz="15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precision = 0.48, recall = 0.69</a:t>
            </a:r>
          </a:p>
          <a:p>
            <a:pPr marL="0" lvl="1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1500" i="1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                 b. Success class:</a:t>
            </a:r>
            <a:r>
              <a:rPr lang="en-US" sz="15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precision = 0.78, recall = 0.59</a:t>
            </a:r>
          </a:p>
          <a:p>
            <a:pPr marL="228600" indent="-22860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15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This means the Judge model is better at catching unsafe (successful attack) prompts than predicting failures.</a:t>
            </a:r>
          </a:p>
          <a:p>
            <a:pPr marL="228600" indent="-22860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15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The alignment score suggests that human evaluators and Judge share moderate agreement, indicating room for improvement in automated safety filters.</a:t>
            </a:r>
          </a:p>
          <a:p>
            <a:pPr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endParaRPr lang="en-US" sz="1500" cap="small">
              <a:gradFill flip="none" rotWithShape="1">
                <a:gsLst>
                  <a:gs pos="0">
                    <a:schemeClr val="tx1"/>
                  </a:gs>
                  <a:gs pos="100000">
                    <a:schemeClr val="tx1">
                      <a:lumMod val="75000"/>
                    </a:schemeClr>
                  </a:gs>
                </a:gsLst>
                <a:lin ang="5580000" scaled="0"/>
                <a:tileRect/>
              </a:gradFill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360CA96E-8F74-49C4-5926-6B32D731A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839" y="1224358"/>
            <a:ext cx="3976788" cy="4089242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923857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4A5B2-8315-9479-010F-7858C9C7C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53931-32DF-9DA9-4274-B541A2DE4F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Thank You</a:t>
            </a:r>
            <a:br>
              <a:rPr lang="en-GB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</a:b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E2A10-247E-4248-AD12-49AA97AC76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4080164"/>
            <a:ext cx="8676222" cy="1905000"/>
          </a:xfrm>
        </p:spPr>
        <p:txBody>
          <a:bodyPr/>
          <a:lstStyle/>
          <a:p>
            <a:r>
              <a:rPr lang="en-GB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Calibri"/>
                <a:ea typeface="Calibri"/>
                <a:cs typeface="Calibri"/>
              </a:rPr>
              <a:t>Team xc2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922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Mesh</vt:lpstr>
      <vt:lpstr> Benchmarking llm safety against social engineering techniques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198</cp:revision>
  <dcterms:created xsi:type="dcterms:W3CDTF">2025-10-22T13:03:11Z</dcterms:created>
  <dcterms:modified xsi:type="dcterms:W3CDTF">2025-10-23T15:41:42Z</dcterms:modified>
</cp:coreProperties>
</file>